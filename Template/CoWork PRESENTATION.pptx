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3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74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/>
  <p:notesSz cx="7315200" cy="96012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24.xml"/><Relationship Id="rId5" Type="http://schemas.openxmlformats.org/officeDocument/2006/relationships/slideMaster" Target="slideMasters/slideMaster25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659A7A-C21C-43A5-93E3-50D9E5E3F32C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463680" y="720720"/>
            <a:ext cx="6397200" cy="359676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730080" y="4559400"/>
            <a:ext cx="5851080" cy="4317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lide Number Placeholder 3"/>
          <p:cNvSpPr/>
          <p:nvPr/>
        </p:nvSpPr>
        <p:spPr>
          <a:xfrm>
            <a:off x="4143240" y="9118440"/>
            <a:ext cx="316656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r">
              <a:lnSpc>
                <a:spcPct val="100000"/>
              </a:lnSpc>
            </a:pPr>
            <a:fld id="{1BCE5DC4-1F09-4C4E-AFD9-C9A7420044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ftr" idx="4"/>
          </p:nvPr>
        </p:nvSpPr>
        <p:spPr>
          <a:xfrm>
            <a:off x="0" y="911844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© Bharati Vidyapeeth’s Institute of Computer Applications and Management, New Delhi-63, by Dr. Sunil Pratap Singh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hdr"/>
          </p:nvPr>
        </p:nvSpPr>
        <p:spPr>
          <a:xfrm>
            <a:off x="0" y="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PlaceHolder 5"/>
          <p:cNvSpPr>
            <a:spLocks noGrp="1"/>
          </p:cNvSpPr>
          <p:nvPr>
            <p:ph type="dt" idx="5"/>
          </p:nvPr>
        </p:nvSpPr>
        <p:spPr>
          <a:xfrm>
            <a:off x="4143240" y="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Enterprise Computing with Java (MCA-305)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PlaceHolder 6"/>
          <p:cNvSpPr>
            <a:spLocks noGrp="1"/>
          </p:cNvSpPr>
          <p:nvPr>
            <p:ph type="sldNum" idx="6"/>
          </p:nvPr>
        </p:nvSpPr>
        <p:spPr>
          <a:xfrm>
            <a:off x="4143240" y="911844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p>
            <a:pPr indent="0" algn="l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3.png"/><Relationship Id="rId14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5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5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3.png"/><Relationship Id="rId14" Type="http://schemas.openxmlformats.org/officeDocument/2006/relationships/image" Target="../media/image4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Chart" preserve="1">
  <p:cSld name="Title, Text and Char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7C1C1903-C821-44B1-9DE5-5CFEFCA032C9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le, Text,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F77F1F7B-0E8C-486D-A68D-80CAC28F0B04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DA068196-04F0-44BF-8A14-1C690E4AF7A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0FB4E3FB-E586-4327-9661-B82EDAD2CB80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, Text,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8A11675D-CDCE-4047-9E65-D688D05468A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18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4667400" y="2776680"/>
            <a:ext cx="4281120" cy="189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1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2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3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4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34E2223B-1ACB-4619-B144-BB2218490EC0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9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A7C7D558-6CEF-4ED2-9A79-2E5A61826011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26A39CE4-33FE-4C8A-9985-901312ACA8A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220F6EF5-B980-4271-8F30-7412AE79998C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261FCFF7-C943-46C5-800F-DF3609FF3780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4DA4CE4B-32C8-48E5-9AC0-D4963644A5C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9BBC2DF1-17A6-4EFF-8ECE-2C12C4E0940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CFAA0696-DB63-45BE-BFB0-D207CDF6F2C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68315E53-B75B-4C62-95E5-AE5BBAEBBF0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5455662C-ED06-4F82-BFCC-857598032B4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259672F0-91AA-4E01-98B5-2F010D82AF1C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FA9E453C-6C7C-44FD-A44D-CFFE4465F481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3B60DA81-D5E4-47DD-A313-C5A42E52E6D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3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4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5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6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7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8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9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10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1C955083-18E4-4A05-BE66-829DCE7A8862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6B8B1B04-76C2-4151-8302-4A70651F15E5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1473DA26-8A19-4867-8D9B-ABC88961DE1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1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1D661CAA-7012-4D42-BF16-A055958FE2C2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E0BBCDAD-115B-4717-B085-D59467C01F2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3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E0A42853-26CB-468C-A006-0794A8E21D4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A3C855B8-B99E-40AB-91FC-33854E25FCD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1366F919-DF73-4E29-BD1D-AC8E2947283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35C273EA-1BDA-4E2A-926D-B5A3B562F56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22520" y="3305160"/>
            <a:ext cx="7768800" cy="101808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400" b="1" u="none" strike="noStrike" cap="all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722520" y="2180160"/>
            <a:ext cx="7768800" cy="1121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4FEA1480-34AB-41D9-AC54-C895BD4D1D6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632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632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3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5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4645440" y="1151280"/>
            <a:ext cx="403776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4645440" y="1631160"/>
            <a:ext cx="403776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7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9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D3E9A601-3054-46CE-A621-6FD9A528347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8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C6350478-81C0-40A8-BE2D-50AA75086CA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9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792080" y="3600360"/>
            <a:ext cx="5482800" cy="421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1792080" y="459720"/>
            <a:ext cx="5482800" cy="308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1792080" y="4025520"/>
            <a:ext cx="5482800" cy="600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B2114C33-1246-478B-8F55-ACE34DF2C90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0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F4121F72-66DA-4D0B-9829-6AC55B0D5EE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1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4920" cy="8679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3575520" y="204840"/>
            <a:ext cx="5107680" cy="438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tabLst>
                <a:tab pos="0" algn="l"/>
              </a:tabLst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6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4920" cy="351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17AB7F44-6C8F-43F5-9B10-B175CA43EAA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631B78EA-FC59-4583-8EAD-5731A3AE2095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4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775920" y="205920"/>
            <a:ext cx="2172600" cy="446940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 vert="eaVer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243360" y="205920"/>
            <a:ext cx="6388560" cy="446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ubTitle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C5D7CED1-8ECD-47CB-BC78-5F7955469AC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7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3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4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5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6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7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8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9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10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EDE21B6A-3CB9-41BE-B0C0-87133BD6E2C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9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632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632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3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5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 type="body"/>
          </p:nvPr>
        </p:nvSpPr>
        <p:spPr>
          <a:xfrm>
            <a:off x="4645440" y="1151280"/>
            <a:ext cx="403776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5"/>
          <p:cNvSpPr>
            <a:spLocks noGrp="1"/>
          </p:cNvSpPr>
          <p:nvPr>
            <p:ph type="body"/>
          </p:nvPr>
        </p:nvSpPr>
        <p:spPr>
          <a:xfrm>
            <a:off x="4645440" y="1631160"/>
            <a:ext cx="403776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7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9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91EABED7-88EC-4097-8B41-0532A07F77F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0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245CBE9E-1611-43C8-A5FD-FA69EF33B01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35E3C6A2-B426-49EB-8157-2B9BFD75D77E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3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4920" cy="8679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3575520" y="204840"/>
            <a:ext cx="5107680" cy="438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tabLst>
                <a:tab pos="0" algn="l"/>
              </a:tabLst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6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4920" cy="351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B8C98D0B-BB93-4498-90EF-C56B9E9DEF6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4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792080" y="3600360"/>
            <a:ext cx="5482800" cy="421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1792080" y="459720"/>
            <a:ext cx="5482800" cy="308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body"/>
          </p:nvPr>
        </p:nvSpPr>
        <p:spPr>
          <a:xfrm>
            <a:off x="1792080" y="4025520"/>
            <a:ext cx="5482800" cy="600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B07080C5-462D-4236-ABCD-072799B3888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AEE0CE23-0BF3-456B-99FF-ECFF731B937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775920" y="205920"/>
            <a:ext cx="2172600" cy="446940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 vert="eaVer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243360" y="205920"/>
            <a:ext cx="6388560" cy="446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Chart" preserve="1">
  <p:cSld name="Default 1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362735AA-BDE7-4DFF-9EED-195FFAA8F8E2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8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 2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BFEDE2B8-B51E-456A-B5E1-CE100C0A9984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0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FAE87690-3014-45A0-84C8-75D676BAE24E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1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18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 type="body"/>
          </p:nvPr>
        </p:nvSpPr>
        <p:spPr>
          <a:xfrm>
            <a:off x="4667400" y="2776680"/>
            <a:ext cx="4281120" cy="189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1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2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3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4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E6468A10-9984-440A-A5C5-F2729D934809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2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F8E4A43B-AAB0-45CA-A742-A970C0A02C19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EFD0B014-A858-4B41-8F77-EAB33C729E08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45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722520" y="3305160"/>
            <a:ext cx="7768800" cy="101808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400" b="1" u="none" strike="noStrike" cap="all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722520" y="2180160"/>
            <a:ext cx="7768800" cy="1121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 hidden="1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 Box 35" hidden="1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Box 36" hidden="1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E82B380F-39ED-472F-B3B7-6734C27CD68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Box 37" hidden="1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Rectangle 40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41" hidden="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Rectangle 43" hidden="1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Rectangle 45" hidden="1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Rectangle 46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Rectangle 48" hidden="1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21"/>
          <p:cNvPicPr/>
          <p:nvPr/>
        </p:nvPicPr>
        <p:blipFill>
          <a:blip r:embed="rId3"/>
          <a:stretch/>
        </p:blipFill>
        <p:spPr>
          <a:xfrm>
            <a:off x="3574080" y="42840"/>
            <a:ext cx="1992240" cy="80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25"/>
          <p:cNvSpPr/>
          <p:nvPr/>
        </p:nvSpPr>
        <p:spPr>
          <a:xfrm>
            <a:off x="0" y="4899600"/>
            <a:ext cx="91404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 algn="ct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 (GGS IP University) New Delhi, India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Group 36"/>
          <p:cNvGrpSpPr/>
          <p:nvPr/>
        </p:nvGrpSpPr>
        <p:grpSpPr>
          <a:xfrm>
            <a:off x="0" y="956160"/>
            <a:ext cx="9140400" cy="149760"/>
            <a:chOff x="0" y="956160"/>
            <a:chExt cx="9140400" cy="149760"/>
          </a:xfrm>
        </p:grpSpPr>
        <p:sp>
          <p:nvSpPr>
            <p:cNvPr id="17" name="Rectangle 31"/>
            <p:cNvSpPr/>
            <p:nvPr/>
          </p:nvSpPr>
          <p:spPr>
            <a:xfrm>
              <a:off x="0" y="956160"/>
              <a:ext cx="9140400" cy="104760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Rectangle 35"/>
            <p:cNvSpPr/>
            <p:nvPr/>
          </p:nvSpPr>
          <p:spPr>
            <a:xfrm>
              <a:off x="0" y="1077480"/>
              <a:ext cx="9140400" cy="284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2960" rIns="90000" bIns="-1296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00480" y="127440"/>
            <a:ext cx="763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34" hidden="1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Text Box 35" hidden="1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Box 36" hidden="1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86131093-4C1B-4577-83EF-FC4E895C744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Box 37" hidden="1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Rectangle 40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Rectangle 41" hidden="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Rectangle 43" hidden="1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Rectangle 45" hidden="1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Rectangle 46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Rectangle 48" hidden="1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5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Picture 21"/>
          <p:cNvPicPr/>
          <p:nvPr/>
        </p:nvPicPr>
        <p:blipFill>
          <a:blip r:embed="rId3"/>
          <a:stretch/>
        </p:blipFill>
        <p:spPr>
          <a:xfrm>
            <a:off x="3574080" y="42840"/>
            <a:ext cx="1992240" cy="80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Text Box 25"/>
          <p:cNvSpPr/>
          <p:nvPr/>
        </p:nvSpPr>
        <p:spPr>
          <a:xfrm>
            <a:off x="0" y="4899600"/>
            <a:ext cx="91404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 algn="ct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 (GGS IP University) New Delhi, India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3" name="Group 36"/>
          <p:cNvGrpSpPr/>
          <p:nvPr/>
        </p:nvGrpSpPr>
        <p:grpSpPr>
          <a:xfrm>
            <a:off x="0" y="956160"/>
            <a:ext cx="9140400" cy="149760"/>
            <a:chOff x="0" y="956160"/>
            <a:chExt cx="9140400" cy="149760"/>
          </a:xfrm>
        </p:grpSpPr>
        <p:sp>
          <p:nvSpPr>
            <p:cNvPr id="364" name="Rectangle 31"/>
            <p:cNvSpPr/>
            <p:nvPr/>
          </p:nvSpPr>
          <p:spPr>
            <a:xfrm>
              <a:off x="0" y="956160"/>
              <a:ext cx="9140400" cy="104760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5" name="Rectangle 35"/>
            <p:cNvSpPr/>
            <p:nvPr/>
          </p:nvSpPr>
          <p:spPr>
            <a:xfrm>
              <a:off x="0" y="1077480"/>
              <a:ext cx="9140400" cy="284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2960" rIns="90000" bIns="-1296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500480" y="127440"/>
            <a:ext cx="763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380880" y="943560"/>
            <a:ext cx="8319960" cy="379404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 anchorCtr="1">
            <a:noAutofit/>
          </a:bodyPr>
          <a:p>
            <a:pPr indent="0" algn="ctr">
              <a:lnSpc>
                <a:spcPct val="12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MINOR PROJECT - II</a:t>
            </a:r>
            <a:br>
              <a:rPr sz="3200"/>
            </a:br>
            <a:r>
              <a:rPr lang="en-US" sz="14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alibri"/>
              </a:rPr>
              <a:t>ON</a:t>
            </a:r>
            <a:br>
              <a:rPr sz="3200"/>
            </a:br>
            <a:r>
              <a:rPr lang="en-US" sz="28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Co Work</a:t>
            </a:r>
            <a:r>
              <a:rPr lang="en-US" sz="26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: CoWorking Spaces </a:t>
            </a:r>
            <a:br>
              <a:rPr sz="2600"/>
            </a:br>
            <a:r>
              <a:rPr lang="en-US" sz="26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Management Application</a:t>
            </a:r>
            <a:br>
              <a:rPr sz="4400"/>
            </a:br>
            <a:r>
              <a:rPr lang="en-US" sz="14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(MCA – II SEMESTER; BATCH 2025-27)</a:t>
            </a:r>
            <a:br>
              <a:rPr sz="4400"/>
            </a:br>
            <a:br>
              <a:rPr sz="2000"/>
            </a:b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1"/>
          <p:cNvSpPr/>
          <p:nvPr/>
        </p:nvSpPr>
        <p:spPr>
          <a:xfrm>
            <a:off x="4511520" y="4429440"/>
            <a:ext cx="306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IN" sz="1700" b="1" u="none" strike="noStrike">
              <a:solidFill>
                <a:schemeClr val="accent6">
                  <a:lumMod val="75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Rectangle 1"/>
          <p:cNvSpPr/>
          <p:nvPr/>
        </p:nvSpPr>
        <p:spPr>
          <a:xfrm>
            <a:off x="5760000" y="3778920"/>
            <a:ext cx="338040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Presentation by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Vaibhav Pathak (06911604425)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Devansh Patidar (09911604425)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Mayan Wadhawan  (10811604425)</a:t>
            </a:r>
            <a:br>
              <a:rPr sz="1600"/>
            </a:b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Picture 2" descr="Guru Gobind Singh Indraprastha University - Wikipedia"/>
          <p:cNvPicPr/>
          <p:nvPr/>
        </p:nvPicPr>
        <p:blipFill>
          <a:blip r:embed="rId1"/>
          <a:stretch/>
        </p:blipFill>
        <p:spPr>
          <a:xfrm>
            <a:off x="4061520" y="3120480"/>
            <a:ext cx="120600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Rectangle 2"/>
          <p:cNvSpPr/>
          <p:nvPr/>
        </p:nvSpPr>
        <p:spPr>
          <a:xfrm>
            <a:off x="180000" y="3856320"/>
            <a:ext cx="319860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Project Mentors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Dr. Sania Kukkar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Dr. Sunil Pratap Singh</a:t>
            </a:r>
            <a:br>
              <a:rPr sz="1600"/>
            </a:b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3924000" y="4320000"/>
            <a:ext cx="1726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1" u="none" strike="noStrike">
                <a:solidFill>
                  <a:srgbClr val="FF972F"/>
                </a:solidFill>
                <a:effectLst/>
                <a:uFillTx/>
                <a:latin typeface="Times New Roman"/>
              </a:rPr>
              <a:t>15th May 2026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Contents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Description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Aim and Objectives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Methodology and Technology Used for Project Development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Classes 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Design Documents (Use Case, Data Flow Diagram, Entity-Relation Diagram, etc.)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Operating Structure of project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Screenshots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Scope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Bibliography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Problem Description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412560" y="930240"/>
            <a:ext cx="8356320" cy="384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current market lacks a unified platform that aggregates coworking spaces while fostering open competition for transparent price discovery, leaving a significant gap for both consumers and providers. Our project addresses this by offering a comprehensive, user-friendly solution that streamlines the booking process for professionals while providing space owners with integrated tools to efficiently manage their day-to-day operations.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Aim and Objectives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Aim: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develop a robust web application that aggregate CoWorking Spaces Market using ReactJS, Java’s SpringBoot, MongoDB.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Objectives: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allow users to search, select and discover Co Working Spaces around them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see the review/ratings and to review/rate Spaces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Enable users to add smaller services in the form of Add-ons before or during their allotted time.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Methodology and Technology Used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Methodology used for Project Development: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Stakeholder Mapping: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Identify needs for both "Space Seekers" (consumers) and "Space Providers" (businesses).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Prioritization: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Define core functionalities like real-time search, competitive bidding/pricing, and booking management.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Modeling: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Determine the document structure for MongoDB to handle varied amenities and dynamic pricing.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Methodology and Technology Used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Methodology used for Project Development: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Microservices Architecture: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Decouple the user-facing marketplace from the provider-focused management ERP.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Strategy: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Design RESTful endpoints in Spring Boot for seamless communication between the React frontend and MongoDB.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Framework: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Implement JWT-based authentication and Role-Based Access Control (RBAC) to separate consumer and provider data.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Methodology and Technology Used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800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Technology used for Project Development: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Java (JDK 21) – Core Backend programming language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SpringBoot (4.0.6) – Backend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MongoDB Atlas – Cloud based DBMS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ReactJS – Frontend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IDEs used: IntelliJ / VSCodiums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Project Modules 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-36000" y="503640"/>
            <a:ext cx="914184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0" algn="just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1" u="sng" strike="noStrike">
                <a:solidFill>
                  <a:srgbClr val="0000CC"/>
                </a:solidFill>
                <a:effectLst/>
                <a:uFillTx/>
                <a:latin typeface="Calibri"/>
              </a:rPr>
              <a:t>Project Modules</a:t>
            </a: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 Authentication &amp; Profile Module: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Gateway to the application, managing identities and security.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Marketplace &amp; Discovery Module: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"Search Engine" of the platform. (GeoSpacialSearch, Filtering Engine)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Booking &amp; Transaction Module: 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Handles Real-Time Availability, Pricing Engine and Payment Transactions.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 Operations (ERP) Module: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The internal tool for space owners to manage their business. (Inventory Management, Operational Dashboard, Maintenance Tracking)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/>
          </p:nvPr>
        </p:nvSpPr>
        <p:spPr>
          <a:xfrm>
            <a:off x="431640" y="2197080"/>
            <a:ext cx="8175240" cy="732960"/>
          </a:xfrm>
          <a:prstGeom prst="rect">
            <a:avLst/>
          </a:prstGeom>
          <a:solidFill>
            <a:srgbClr val="FFFFCC"/>
          </a:solidFill>
          <a:ln w="0">
            <a:solidFill>
              <a:schemeClr val="dk1">
                <a:lumMod val="50000"/>
                <a:lumOff val="50000"/>
              </a:schemeClr>
            </a:solidFill>
          </a:ln>
        </p:spPr>
        <p:txBody>
          <a:bodyPr numCol="1" spcCol="0" lIns="77760" tIns="38880" rIns="77760" bIns="38880" anchor="t">
            <a:noAutofit/>
          </a:bodyPr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Design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Use Case Diagram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76" name=""/>
          <p:cNvPicPr/>
          <p:nvPr/>
        </p:nvPicPr>
        <p:blipFill>
          <a:blip r:embed="rId1"/>
          <a:stretch/>
        </p:blipFill>
        <p:spPr>
          <a:xfrm>
            <a:off x="2265120" y="762120"/>
            <a:ext cx="4609800" cy="406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Entity-Relationship (ER) Diagram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"/>
          <p:cNvPicPr/>
          <p:nvPr/>
        </p:nvPicPr>
        <p:blipFill>
          <a:blip r:embed="rId1"/>
          <a:stretch/>
        </p:blipFill>
        <p:spPr>
          <a:xfrm>
            <a:off x="2162520" y="864000"/>
            <a:ext cx="5016960" cy="396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Data Flow Diagram (Level - 0)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"/>
          <p:cNvPicPr/>
          <p:nvPr/>
        </p:nvPicPr>
        <p:blipFill>
          <a:blip r:embed="rId1"/>
          <a:stretch/>
        </p:blipFill>
        <p:spPr>
          <a:xfrm>
            <a:off x="35280" y="1980000"/>
            <a:ext cx="9142560" cy="143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Data Flow Diagram (Level - 1)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82" name=""/>
          <p:cNvPicPr/>
          <p:nvPr/>
        </p:nvPicPr>
        <p:blipFill>
          <a:blip r:embed="rId1"/>
          <a:stretch/>
        </p:blipFill>
        <p:spPr>
          <a:xfrm>
            <a:off x="35280" y="1440000"/>
            <a:ext cx="9142560" cy="269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Operating Structure of Project 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631800" lvl="1" indent="-24192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Interaction: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React sends asynchronous HTTP requests via Axios/Fetch to Spring Boot REST endpoints.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Processing: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Spring Boot handles business logic and interacts with MongoDB, returning data in JSON format.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Dynamic Rendering: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React receives JSON responses to update the UI and manage state without refreshing.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indent="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/>
          </p:nvPr>
        </p:nvSpPr>
        <p:spPr>
          <a:xfrm>
            <a:off x="444600" y="2158920"/>
            <a:ext cx="8302320" cy="656640"/>
          </a:xfrm>
          <a:prstGeom prst="rect">
            <a:avLst/>
          </a:prstGeom>
          <a:solidFill>
            <a:srgbClr val="FFFFCC"/>
          </a:solidFill>
          <a:ln w="0">
            <a:solidFill>
              <a:schemeClr val="dk1">
                <a:lumMod val="50000"/>
                <a:lumOff val="50000"/>
              </a:schemeClr>
            </a:solidFill>
          </a:ln>
        </p:spPr>
        <p:txBody>
          <a:bodyPr numCol="1" spcCol="0" lIns="77760" tIns="38880" rIns="77760" bIns="38880" anchor="t">
            <a:noAutofit/>
          </a:bodyPr>
          <a:p>
            <a:pPr indent="0" algn="ctr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Screenshots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- 1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Box 3"/>
          <p:cNvSpPr/>
          <p:nvPr/>
        </p:nvSpPr>
        <p:spPr>
          <a:xfrm>
            <a:off x="5092200" y="1561320"/>
            <a:ext cx="30445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88" name=""/>
          <p:cNvPicPr/>
          <p:nvPr/>
        </p:nvPicPr>
        <p:blipFill>
          <a:blip r:embed="rId1"/>
          <a:stretch/>
        </p:blipFill>
        <p:spPr>
          <a:xfrm>
            <a:off x="1015920" y="720000"/>
            <a:ext cx="7441920" cy="406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- 2 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0" name=""/>
          <p:cNvPicPr/>
          <p:nvPr/>
        </p:nvPicPr>
        <p:blipFill>
          <a:blip r:embed="rId1"/>
          <a:stretch/>
        </p:blipFill>
        <p:spPr>
          <a:xfrm>
            <a:off x="648000" y="707760"/>
            <a:ext cx="7954560" cy="416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- 3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"/>
          <p:cNvPicPr/>
          <p:nvPr/>
        </p:nvPicPr>
        <p:blipFill>
          <a:blip r:embed="rId1"/>
          <a:stretch/>
        </p:blipFill>
        <p:spPr>
          <a:xfrm>
            <a:off x="670320" y="720000"/>
            <a:ext cx="8075520" cy="403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- 4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4" name=""/>
          <p:cNvPicPr/>
          <p:nvPr/>
        </p:nvPicPr>
        <p:blipFill>
          <a:blip r:embed="rId1"/>
          <a:stretch/>
        </p:blipFill>
        <p:spPr>
          <a:xfrm>
            <a:off x="655560" y="720000"/>
            <a:ext cx="8054280" cy="404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- 5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"/>
          <p:cNvPicPr/>
          <p:nvPr/>
        </p:nvPicPr>
        <p:blipFill>
          <a:blip r:embed="rId1"/>
          <a:stretch/>
        </p:blipFill>
        <p:spPr>
          <a:xfrm>
            <a:off x="540000" y="704880"/>
            <a:ext cx="8169840" cy="408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- 6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8" name=""/>
          <p:cNvPicPr/>
          <p:nvPr/>
        </p:nvPicPr>
        <p:blipFill>
          <a:blip r:embed="rId1"/>
          <a:stretch/>
        </p:blipFill>
        <p:spPr>
          <a:xfrm>
            <a:off x="422640" y="684000"/>
            <a:ext cx="8287200" cy="414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Future Scope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Pricing Optimization: Predictive analytics for real-time rate discovery.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Mobile Expansion: Native React Native apps for on-the-go booking.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IoT Smart Access: Automated door locks and energy management.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 Workspace Tours: Immersive 3D virtual space previews.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Application>LibreOffice/26.2.2.2$Linux_X86_64 LibreOffice_project/1f77d10d6938fd34972958f64b2bcfa54f8b1ba5</Application>
  <AppVersion>15.0000</AppVersion>
  <Words>3814</Words>
  <Paragraphs>128</Paragraphs>
  <Company>Capital One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2000-01-06T15:07:00Z</dcterms:created>
  <dc:creator>Dr. Sunil Pratap Singh</dc:creator>
  <dc:description/>
  <dc:language>en-IN</dc:language>
  <cp:lastModifiedBy>Vaibhav Pathak</cp:lastModifiedBy>
  <cp:lastPrinted>2026-05-02T05:48:51Z</cp:lastPrinted>
  <dcterms:modified xsi:type="dcterms:W3CDTF">2026-05-15T08:57:26Z</dcterms:modified>
  <cp:revision>2306</cp:revision>
  <dc:subject/>
  <dc:title>Introduction to Extreme Programming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853E8D73BFC14466A8C259C5C37FFA9D_13</vt:lpwstr>
  </property>
  <property fmtid="{D5CDD505-2E9C-101B-9397-08002B2CF9AE}" pid="3" name="KSOProductBuildVer">
    <vt:lpwstr>1033-12.2.0.23155</vt:lpwstr>
  </property>
  <property fmtid="{D5CDD505-2E9C-101B-9397-08002B2CF9AE}" pid="4" name="Notes">
    <vt:i4>1</vt:i4>
  </property>
  <property fmtid="{D5CDD505-2E9C-101B-9397-08002B2CF9AE}" pid="5" name="PresentationFormat">
    <vt:lpwstr>On-screen Show (16:9)</vt:lpwstr>
  </property>
  <property fmtid="{D5CDD505-2E9C-101B-9397-08002B2CF9AE}" pid="6" name="Slides">
    <vt:i4>23</vt:i4>
  </property>
</Properties>
</file>