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38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74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/>
  <p:notesSz cx="7315200" cy="96012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24.xml"/><Relationship Id="rId5" Type="http://schemas.openxmlformats.org/officeDocument/2006/relationships/slideMaster" Target="slideMasters/slideMaster25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0728748-485B-476F-90A5-FD8E924A7B3F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sldImg"/>
          </p:nvPr>
        </p:nvSpPr>
        <p:spPr>
          <a:xfrm>
            <a:off x="463680" y="720720"/>
            <a:ext cx="6397200" cy="359676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730080" y="4559400"/>
            <a:ext cx="5851080" cy="4317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lide Number Placeholder 3"/>
          <p:cNvSpPr/>
          <p:nvPr/>
        </p:nvSpPr>
        <p:spPr>
          <a:xfrm>
            <a:off x="4143240" y="9118440"/>
            <a:ext cx="316656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r">
              <a:lnSpc>
                <a:spcPct val="100000"/>
              </a:lnSpc>
            </a:pPr>
            <a:fld id="{650E3521-56B0-4816-9E46-6A6E074E32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ftr" idx="4"/>
          </p:nvPr>
        </p:nvSpPr>
        <p:spPr>
          <a:xfrm>
            <a:off x="0" y="9118440"/>
            <a:ext cx="3166560" cy="477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© Bharati Vidyapeeth’s Institute of Computer Applications and Management, New Delhi-63, by Dr. Sunil Pratap Singh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PlaceHolder 4"/>
          <p:cNvSpPr>
            <a:spLocks noGrp="1"/>
          </p:cNvSpPr>
          <p:nvPr>
            <p:ph type="hdr"/>
          </p:nvPr>
        </p:nvSpPr>
        <p:spPr>
          <a:xfrm>
            <a:off x="0" y="0"/>
            <a:ext cx="3166560" cy="477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PlaceHolder 5"/>
          <p:cNvSpPr>
            <a:spLocks noGrp="1"/>
          </p:cNvSpPr>
          <p:nvPr>
            <p:ph type="dt" idx="5"/>
          </p:nvPr>
        </p:nvSpPr>
        <p:spPr>
          <a:xfrm>
            <a:off x="4143240" y="0"/>
            <a:ext cx="3166560" cy="477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Enterprise Computing with Java (MCA-305)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PlaceHolder 6"/>
          <p:cNvSpPr>
            <a:spLocks noGrp="1"/>
          </p:cNvSpPr>
          <p:nvPr>
            <p:ph type="sldNum" idx="6"/>
          </p:nvPr>
        </p:nvSpPr>
        <p:spPr>
          <a:xfrm>
            <a:off x="4143240" y="9118440"/>
            <a:ext cx="3166560" cy="477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p>
            <a:pPr indent="0" algn="l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3.png"/><Relationship Id="rId10" Type="http://schemas.openxmlformats.org/officeDocument/2006/relationships/image" Target="../media/image4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3.png"/><Relationship Id="rId12" Type="http://schemas.openxmlformats.org/officeDocument/2006/relationships/image" Target="../media/image4.png"/><Relationship Id="rId13" Type="http://schemas.openxmlformats.org/officeDocument/2006/relationships/image" Target="../media/image3.png"/><Relationship Id="rId14" Type="http://schemas.openxmlformats.org/officeDocument/2006/relationships/image" Target="../media/image4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5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3.png"/><Relationship Id="rId10" Type="http://schemas.openxmlformats.org/officeDocument/2006/relationships/image" Target="../media/image4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5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3.png"/><Relationship Id="rId10" Type="http://schemas.openxmlformats.org/officeDocument/2006/relationships/image" Target="../media/image4.pn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3.png"/><Relationship Id="rId10" Type="http://schemas.openxmlformats.org/officeDocument/2006/relationships/image" Target="../media/image4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3.png"/><Relationship Id="rId12" Type="http://schemas.openxmlformats.org/officeDocument/2006/relationships/image" Target="../media/image4.png"/><Relationship Id="rId13" Type="http://schemas.openxmlformats.org/officeDocument/2006/relationships/image" Target="../media/image3.png"/><Relationship Id="rId14" Type="http://schemas.openxmlformats.org/officeDocument/2006/relationships/image" Target="../media/image4.png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5.png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Chart" preserve="1">
  <p:cSld name="Title, Text and Char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62E2B2CB-2499-48D7-AFC4-0857DA91D0EE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3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427968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3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5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67400" y="760680"/>
            <a:ext cx="4281120" cy="39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Obj" preserve="1">
  <p:cSld name="Title, Text,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219570B6-34FC-4C54-AD7B-16CA0AB35935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7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427968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3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5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67400" y="760680"/>
            <a:ext cx="428112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7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8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9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10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56EFB089-1349-4F4D-8E35-1DA20E97E1AA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1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5A825C9A-9662-42DD-B1FD-FCA7E1019274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, Text,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83339486-AD6E-42FE-AA6A-1CC4F152BB6A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7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427968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3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5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667400" y="760680"/>
            <a:ext cx="4281120" cy="1897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7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8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9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10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4667400" y="2776680"/>
            <a:ext cx="4281120" cy="1899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11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12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13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14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A267EAF8-7304-4BAA-9855-1F390FF15F6C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92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E2357F34-0F0C-4D5B-B8F5-0B71FD7362E4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35A8B00D-3E07-418E-A9FF-CC1420E4B46E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08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DE31F346-D668-4DEB-9C70-67F76B2EA4D9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1CBD7437-FB21-4A34-94C2-CCB4F3914B89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24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3BFE05C2-BFF7-4244-9597-0ED9256E3BE7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682AF98F-0256-4F67-BD8E-6D6802B4024A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40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7EA897F3-5750-4FF9-9565-A1A3B1CD0B12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A72C0E7E-2AF8-4DFA-87C3-EA69FACF645E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56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C7537CE8-97EE-43A6-BE75-3DA9402EDF5F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8718EA81-2361-4E60-A177-69281A84A5A5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72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415806EE-5CEF-4CEE-99A5-95FBE3187B93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573D2F77-79DF-44CA-A28B-028ADA68055B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88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427968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3"/>
              </a:buBlip>
              <a:defRPr lang="en-US" sz="15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4"/>
              </a:buBlip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5"/>
              </a:buBlip>
            </a:pPr>
            <a:r>
              <a:rPr lang="en-US" sz="15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5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6"/>
              </a:buBlip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4667400" y="760680"/>
            <a:ext cx="428112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7"/>
              </a:buBlip>
              <a:defRPr lang="en-US" sz="15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8"/>
              </a:buBlip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9"/>
              </a:buBlip>
            </a:pPr>
            <a:r>
              <a:rPr lang="en-US" sz="15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5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10"/>
              </a:buBlip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FE856E82-E230-49D4-8E01-9F630938E1A9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02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AAD43074-B9AD-4468-B42D-90E63390C65A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783D9DBD-1514-4F86-9AD3-35EA4D3A4FC3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18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6141D88F-E539-4DC1-BC68-B1BE162B9EC8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748A2C11-12BD-499E-9E68-C222555EC3B1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34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B81BAC91-6533-41B7-A166-C3F245E2019B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0C5E8B3F-4D4F-4C91-838B-506EA92ADC9B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40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6A7508CF-641C-485A-B0D0-B5CB7D95062A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BA70B2AC-27BD-4F7D-B7D5-6EA1750E70CF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53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722520" y="3305160"/>
            <a:ext cx="7768800" cy="101808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400" b="1" u="none" strike="noStrike" cap="all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 cap="all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400" b="1" u="none" strike="noStrike" cap="all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722520" y="2180160"/>
            <a:ext cx="7768800" cy="1121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b">
            <a:noAutofit/>
          </a:bodyPr>
          <a:lstStyle>
            <a:lvl1pPr indent="0" algn="l">
              <a:lnSpc>
                <a:spcPct val="100000"/>
              </a:lnSpc>
              <a:spcBef>
                <a:spcPts val="340"/>
              </a:spcBef>
              <a:buNone/>
              <a:tabLst>
                <a:tab pos="0" algn="l"/>
              </a:tabLst>
              <a:def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34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FD67DE7C-F46E-4BF7-BAF2-B403761ED63C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66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6320" cy="47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b">
            <a:noAutofit/>
          </a:bodyPr>
          <a:lstStyle>
            <a:lvl1pPr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6320" cy="295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  <a:def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  <a:defRPr lang="en-US" sz="15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3"/>
              </a:buBlip>
              <a:tabLst>
                <a:tab pos="0" algn="l"/>
              </a:tabLst>
              <a:defRPr lang="en-US" sz="14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5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5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5"/>
              </a:buBlip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body"/>
          </p:nvPr>
        </p:nvSpPr>
        <p:spPr>
          <a:xfrm>
            <a:off x="4645440" y="1151280"/>
            <a:ext cx="4037760" cy="47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b">
            <a:noAutofit/>
          </a:bodyPr>
          <a:lstStyle>
            <a:lvl1pPr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body"/>
          </p:nvPr>
        </p:nvSpPr>
        <p:spPr>
          <a:xfrm>
            <a:off x="4645440" y="1631160"/>
            <a:ext cx="4037760" cy="295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  <a:def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  <a:defRPr lang="en-US" sz="15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7"/>
              </a:buBlip>
              <a:tabLst>
                <a:tab pos="0" algn="l"/>
              </a:tabLst>
              <a:defRPr lang="en-US" sz="14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8"/>
              </a:buBlip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5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5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9"/>
              </a:buBlip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10"/>
              </a:buBlip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BFD10AD6-BA14-482A-BA68-571C1E28B4DF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82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5650BF2F-A43D-4116-B99E-E589CCEB2288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94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1792080" y="3600360"/>
            <a:ext cx="5482800" cy="421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700" b="1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1700" b="1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1792080" y="459720"/>
            <a:ext cx="5482800" cy="3082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27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7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7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Second Outline Level</a:t>
            </a:r>
            <a:endParaRPr lang="en-US" sz="27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7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Third Outline Level</a:t>
            </a:r>
            <a:endParaRPr lang="en-US" sz="27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body"/>
          </p:nvPr>
        </p:nvSpPr>
        <p:spPr>
          <a:xfrm>
            <a:off x="1792080" y="4025520"/>
            <a:ext cx="5482800" cy="600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indent="0" algn="l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9E42DDB5-06F9-490D-913D-F8B9E8B6AC00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08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65FFB5EB-47FA-4AE4-96DA-3B394E8C474D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19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4920" cy="8679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700" b="1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1700" b="1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3575520" y="204840"/>
            <a:ext cx="5107680" cy="4386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  <a:defRPr lang="en-US" sz="20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tabLst>
                <a:tab pos="0" algn="l"/>
              </a:tabLst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4"/>
              </a:buBlip>
              <a:tabLst>
                <a:tab pos="0" algn="l"/>
              </a:tabLst>
              <a:def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20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6"/>
              </a:buBlip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4920" cy="351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indent="0" algn="l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1D0D3390-2777-48A3-9AD6-0A6D5B481993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33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 vert="eaVer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3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5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755CB6F5-6EBC-4AC2-B07C-5030036F9ED5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46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6775920" y="205920"/>
            <a:ext cx="2172600" cy="446940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 vert="eaVer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243360" y="205920"/>
            <a:ext cx="6388560" cy="446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 vert="eaVer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3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5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subTitle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625501EC-D891-4E75-860F-0F27FCD95C53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79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427968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3"/>
              </a:buBlip>
              <a:defRPr lang="en-US" sz="15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4"/>
              </a:buBlip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5"/>
              </a:buBlip>
            </a:pPr>
            <a:r>
              <a:rPr lang="en-US" sz="15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5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6"/>
              </a:buBlip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body"/>
          </p:nvPr>
        </p:nvSpPr>
        <p:spPr>
          <a:xfrm>
            <a:off x="4667400" y="760680"/>
            <a:ext cx="428112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7"/>
              </a:buBlip>
              <a:defRPr lang="en-US" sz="15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8"/>
              </a:buBlip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9"/>
              </a:buBlip>
            </a:pPr>
            <a:r>
              <a:rPr lang="en-US" sz="15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5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300"/>
              </a:spcBef>
              <a:buSzPct val="100000"/>
              <a:buBlip>
                <a:blip r:embed="rId10"/>
              </a:buBlip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1815A655-AD73-4566-9D70-C39003048FE6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93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6320" cy="47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b">
            <a:noAutofit/>
          </a:bodyPr>
          <a:lstStyle>
            <a:lvl1pPr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6320" cy="295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  <a:def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  <a:defRPr lang="en-US" sz="15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3"/>
              </a:buBlip>
              <a:tabLst>
                <a:tab pos="0" algn="l"/>
              </a:tabLst>
              <a:defRPr lang="en-US" sz="14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5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5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5"/>
              </a:buBlip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4"/>
          <p:cNvSpPr>
            <a:spLocks noGrp="1"/>
          </p:cNvSpPr>
          <p:nvPr>
            <p:ph type="body"/>
          </p:nvPr>
        </p:nvSpPr>
        <p:spPr>
          <a:xfrm>
            <a:off x="4645440" y="1151280"/>
            <a:ext cx="4037760" cy="47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b">
            <a:noAutofit/>
          </a:bodyPr>
          <a:lstStyle>
            <a:lvl1pPr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5"/>
          <p:cNvSpPr>
            <a:spLocks noGrp="1"/>
          </p:cNvSpPr>
          <p:nvPr>
            <p:ph type="body"/>
          </p:nvPr>
        </p:nvSpPr>
        <p:spPr>
          <a:xfrm>
            <a:off x="4645440" y="1631160"/>
            <a:ext cx="4037760" cy="295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  <a:def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  <a:defRPr lang="en-US" sz="15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7"/>
              </a:buBlip>
              <a:tabLst>
                <a:tab pos="0" algn="l"/>
              </a:tabLst>
              <a:defRPr lang="en-US" sz="14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8"/>
              </a:buBlip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5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5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9"/>
              </a:buBlip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4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10"/>
              </a:buBlip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0518F6EB-BF55-42EF-8D2F-5377C330D804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09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0DAEC7B6-2B1F-4977-82C7-0A03C0F21DFD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21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D7999130-27BB-4818-9F7A-E42615FA8EFD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32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4920" cy="8679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700" b="1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1700" b="1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3575520" y="204840"/>
            <a:ext cx="5107680" cy="4386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  <a:defRPr lang="en-US" sz="20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tabLst>
                <a:tab pos="0" algn="l"/>
              </a:tabLst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4"/>
              </a:buBlip>
              <a:tabLst>
                <a:tab pos="0" algn="l"/>
              </a:tabLst>
              <a:def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541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20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6"/>
              </a:buBlip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4920" cy="351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indent="0" algn="l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AC5C87EC-3923-49FB-A4AE-C57ED581F10E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46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7" name="PlaceHolder 1"/>
          <p:cNvSpPr>
            <a:spLocks noGrp="1"/>
          </p:cNvSpPr>
          <p:nvPr>
            <p:ph type="title"/>
          </p:nvPr>
        </p:nvSpPr>
        <p:spPr>
          <a:xfrm>
            <a:off x="1792080" y="3600360"/>
            <a:ext cx="5482800" cy="421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700" b="1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1700" b="1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1792080" y="459720"/>
            <a:ext cx="5482800" cy="3082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27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7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7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Second Outline Level</a:t>
            </a:r>
            <a:endParaRPr lang="en-US" sz="27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7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Third Outline Level</a:t>
            </a:r>
            <a:endParaRPr lang="en-US" sz="27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body"/>
          </p:nvPr>
        </p:nvSpPr>
        <p:spPr>
          <a:xfrm>
            <a:off x="1792080" y="4025520"/>
            <a:ext cx="5482800" cy="600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indent="0" algn="l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DD97113D-FE55-4CC9-B330-67FBF913570B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60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 vert="eaVer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3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5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9144D6C6-3DC8-43DD-9D9E-DB9E50DA4CC7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73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6775920" y="205920"/>
            <a:ext cx="2172600" cy="446940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 vert="eaVer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243360" y="205920"/>
            <a:ext cx="6388560" cy="446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 vert="eaVer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3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5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Chart" preserve="1">
  <p:cSld name="Default 1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ED498666-A409-4A68-880E-428098C15513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86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427968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3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5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body"/>
          </p:nvPr>
        </p:nvSpPr>
        <p:spPr>
          <a:xfrm>
            <a:off x="4667400" y="760680"/>
            <a:ext cx="4281120" cy="39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Obj" preserve="1">
  <p:cSld name="Default 2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0F098109-9265-4136-B9AC-7AFD30CA8742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00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427968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3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5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body"/>
          </p:nvPr>
        </p:nvSpPr>
        <p:spPr>
          <a:xfrm>
            <a:off x="4667400" y="760680"/>
            <a:ext cx="428112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7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8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9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10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F2A85087-6A22-4F1C-BB9D-1086D1318097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14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6000" cy="8535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00" b="0" u="none" strike="noStrike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700" b="0" u="none" strike="noStrike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427968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3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4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5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6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body"/>
          </p:nvPr>
        </p:nvSpPr>
        <p:spPr>
          <a:xfrm>
            <a:off x="4667400" y="760680"/>
            <a:ext cx="4281120" cy="1897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7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8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9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10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4"/>
          <p:cNvSpPr>
            <a:spLocks noGrp="1"/>
          </p:cNvSpPr>
          <p:nvPr>
            <p:ph type="body"/>
          </p:nvPr>
        </p:nvSpPr>
        <p:spPr>
          <a:xfrm>
            <a:off x="4667400" y="2776680"/>
            <a:ext cx="4281120" cy="1899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  <a:def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11"/>
              </a:buBlip>
              <a:def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12"/>
              </a:buBlip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900" b="0" u="none" strike="noStrike">
                <a:solidFill>
                  <a:srgbClr val="993300"/>
                </a:solidFill>
                <a:effectLst/>
                <a:uFillTx/>
                <a:latin typeface="Arial"/>
              </a:rPr>
              <a:t>Third level</a:t>
            </a:r>
            <a:endParaRPr lang="en-US" sz="1900" b="0" u="none" strike="noStrike">
              <a:solidFill>
                <a:srgbClr val="993300"/>
              </a:solidFill>
              <a:effectLst/>
              <a:uFillTx/>
              <a:latin typeface="Arial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60"/>
              </a:spcBef>
              <a:buSzPct val="100112"/>
              <a:buBlip>
                <a:blip r:embed="rId13"/>
              </a:buBlip>
            </a:pPr>
            <a:r>
              <a:rPr lang="en-US" sz="18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rgbClr val="000099"/>
              </a:solidFill>
              <a:effectLst/>
              <a:uFillTx/>
              <a:latin typeface="Arial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281"/>
              </a:spcBef>
              <a:buSzPct val="100058"/>
              <a:buBlip>
                <a:blip r:embed="rId14"/>
              </a:buBlip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237D1C35-4DB3-4737-84F5-87F15ABB4E1F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29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0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Text Box 25"/>
          <p:cNvSpPr/>
          <p:nvPr/>
        </p:nvSpPr>
        <p:spPr>
          <a:xfrm>
            <a:off x="79200" y="4899600"/>
            <a:ext cx="79005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</a:t>
            </a: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Box 8"/>
          <p:cNvSpPr/>
          <p:nvPr/>
        </p:nvSpPr>
        <p:spPr>
          <a:xfrm>
            <a:off x="7536600" y="4894560"/>
            <a:ext cx="14544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fld id="{E50770B6-61E7-44EB-B9C7-15254B44BD03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1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lstStyle>
            <a:lvl1pPr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  <a:def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3"/>
              </a:buBlip>
              <a:def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4"/>
              </a:buBlip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90880" indent="-29088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72720" lvl="2" indent="-193680" algn="l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1700" b="0" u="none" strike="noStrike">
                <a:solidFill>
                  <a:srgbClr val="993300"/>
                </a:solidFill>
                <a:effectLst/>
                <a:uFillTx/>
                <a:latin typeface="Calibri"/>
              </a:rPr>
              <a:t>Third level</a:t>
            </a:r>
            <a:endParaRPr lang="en-US" sz="1700" b="0" u="none" strike="noStrike">
              <a:solidFill>
                <a:srgbClr val="993300"/>
              </a:solidFill>
              <a:effectLst/>
              <a:uFillTx/>
              <a:latin typeface="Calibri"/>
            </a:endParaRPr>
          </a:p>
          <a:p>
            <a:pPr marL="1362240" lvl="3" indent="-193680" algn="l">
              <a:lnSpc>
                <a:spcPct val="100000"/>
              </a:lnSpc>
              <a:spcBef>
                <a:spcPts val="340"/>
              </a:spcBef>
              <a:buSzPct val="100000"/>
              <a:buBlip>
                <a:blip r:embed="rId5"/>
              </a:buBlip>
            </a:pPr>
            <a:r>
              <a:rPr lang="en-US" sz="1700" b="0" u="none" strike="noStrike">
                <a:solidFill>
                  <a:srgbClr val="000099"/>
                </a:solidFill>
                <a:effectLst/>
                <a:uFillTx/>
                <a:latin typeface="Calibri"/>
              </a:rPr>
              <a:t>Fourth level</a:t>
            </a:r>
            <a:endParaRPr lang="en-US" sz="1700" b="0" u="none" strike="noStrike">
              <a:solidFill>
                <a:srgbClr val="000099"/>
              </a:solidFill>
              <a:effectLst/>
              <a:uFillTx/>
              <a:latin typeface="Calibri"/>
            </a:endParaRPr>
          </a:p>
          <a:p>
            <a:pPr marL="1752120" lvl="4" indent="-193680" algn="l">
              <a:lnSpc>
                <a:spcPct val="100000"/>
              </a:lnSpc>
              <a:spcBef>
                <a:spcPts val="400"/>
              </a:spcBef>
              <a:buSzPct val="100000"/>
              <a:buBlip>
                <a:blip r:embed="rId6"/>
              </a:buBlip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Rectangle 34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Text Box 35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Box 36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D9C30232-5B31-4CE4-B3F5-2E0423EA15DF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Box 37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Rectangle 40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Rectangle 4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Rectangle 43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Rectangle 45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Rectangle 46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Rectangle 48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45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722520" y="3305160"/>
            <a:ext cx="7768800" cy="101808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400" b="1" u="none" strike="noStrike" cap="all">
                <a:solidFill>
                  <a:schemeClr val="dk2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 cap="all">
                <a:solidFill>
                  <a:schemeClr val="dk2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400" b="1" u="none" strike="noStrike" cap="all">
              <a:solidFill>
                <a:schemeClr val="dk2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722520" y="2180160"/>
            <a:ext cx="7768800" cy="1121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b">
            <a:noAutofit/>
          </a:bodyPr>
          <a:lstStyle>
            <a:lvl1pPr indent="0" algn="l">
              <a:lnSpc>
                <a:spcPct val="100000"/>
              </a:lnSpc>
              <a:spcBef>
                <a:spcPts val="340"/>
              </a:spcBef>
              <a:buNone/>
              <a:tabLst>
                <a:tab pos="0" algn="l"/>
              </a:tabLst>
              <a:def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34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5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4" hidden="1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Text Box 35" hidden="1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 Box 36" hidden="1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95AF5019-0D78-483E-ABB9-22213CE6594C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Box 37" hidden="1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Rectangle 40" hidden="1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Rectangle 41" hidden="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Rectangle 43" hidden="1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Rectangle 45" hidden="1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Rectangle 46" hidden="1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Rectangle 48" hidden="1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2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Picture 21"/>
          <p:cNvPicPr/>
          <p:nvPr/>
        </p:nvPicPr>
        <p:blipFill>
          <a:blip r:embed="rId3"/>
          <a:stretch/>
        </p:blipFill>
        <p:spPr>
          <a:xfrm>
            <a:off x="3574080" y="42840"/>
            <a:ext cx="1992240" cy="80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Text Box 25"/>
          <p:cNvSpPr/>
          <p:nvPr/>
        </p:nvSpPr>
        <p:spPr>
          <a:xfrm>
            <a:off x="0" y="4899600"/>
            <a:ext cx="91404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 algn="ct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 (GGS IP University) New Delhi, India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" name="Group 36"/>
          <p:cNvGrpSpPr/>
          <p:nvPr/>
        </p:nvGrpSpPr>
        <p:grpSpPr>
          <a:xfrm>
            <a:off x="0" y="956160"/>
            <a:ext cx="9140400" cy="149760"/>
            <a:chOff x="0" y="956160"/>
            <a:chExt cx="9140400" cy="149760"/>
          </a:xfrm>
        </p:grpSpPr>
        <p:sp>
          <p:nvSpPr>
            <p:cNvPr id="17" name="Rectangle 31"/>
            <p:cNvSpPr/>
            <p:nvPr/>
          </p:nvSpPr>
          <p:spPr>
            <a:xfrm>
              <a:off x="0" y="956160"/>
              <a:ext cx="9140400" cy="104760"/>
            </a:xfrm>
            <a:prstGeom prst="rect">
              <a:avLst/>
            </a:prstGeom>
            <a:solidFill>
              <a:srgbClr val="000099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" name="Rectangle 35"/>
            <p:cNvSpPr/>
            <p:nvPr/>
          </p:nvSpPr>
          <p:spPr>
            <a:xfrm>
              <a:off x="0" y="1077480"/>
              <a:ext cx="9140400" cy="284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12960" rIns="90000" bIns="-12960" anchor="ctr">
              <a:noAutofit/>
            </a:bodyPr>
            <a:p>
              <a:endPara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00480" y="127440"/>
            <a:ext cx="76399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Rectangle 34" hidden="1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Text Box 35" hidden="1"/>
          <p:cNvSpPr/>
          <p:nvPr/>
        </p:nvSpPr>
        <p:spPr>
          <a:xfrm>
            <a:off x="79200" y="4899600"/>
            <a:ext cx="83944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© Bharati Vidyapeeth’s Institute of Computer Applications and Management, New Delhi-63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Box 36" hidden="1"/>
          <p:cNvSpPr/>
          <p:nvPr/>
        </p:nvSpPr>
        <p:spPr>
          <a:xfrm>
            <a:off x="8355600" y="4898160"/>
            <a:ext cx="752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ctr">
            <a:noAutofit/>
          </a:bodyPr>
          <a:p>
            <a:pPr algn="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       </a:t>
            </a:r>
            <a:fld id="{5271A3EA-B95B-43D6-A56E-C01EBEB3F8E3}" type="slidenum"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Box 37" hidden="1"/>
          <p:cNvSpPr/>
          <p:nvPr/>
        </p:nvSpPr>
        <p:spPr>
          <a:xfrm>
            <a:off x="1613520" y="840600"/>
            <a:ext cx="7409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endParaRPr lang="en-IN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Rectangle 40" hidden="1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Rectangle 41" hidden="1"/>
          <p:cNvSpPr/>
          <p:nvPr/>
        </p:nvSpPr>
        <p:spPr>
          <a:xfrm>
            <a:off x="0" y="631080"/>
            <a:ext cx="9140400" cy="284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14400" rIns="77760" bIns="144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Rectangle 43" hidden="1"/>
          <p:cNvSpPr/>
          <p:nvPr/>
        </p:nvSpPr>
        <p:spPr>
          <a:xfrm>
            <a:off x="1496160" y="0"/>
            <a:ext cx="764424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Rectangle 45" hidden="1"/>
          <p:cNvSpPr/>
          <p:nvPr/>
        </p:nvSpPr>
        <p:spPr>
          <a:xfrm>
            <a:off x="1333440" y="0"/>
            <a:ext cx="7806960" cy="51912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IN" sz="2000" b="0" u="none" strike="noStrike">
              <a:solidFill>
                <a:srgbClr val="FEF8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Rectangle 46" hidden="1"/>
          <p:cNvSpPr/>
          <p:nvPr/>
        </p:nvSpPr>
        <p:spPr>
          <a:xfrm>
            <a:off x="0" y="520200"/>
            <a:ext cx="9140400" cy="10476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Rectangle 48" hidden="1"/>
          <p:cNvSpPr/>
          <p:nvPr/>
        </p:nvSpPr>
        <p:spPr>
          <a:xfrm>
            <a:off x="0" y="574560"/>
            <a:ext cx="9140400" cy="50400"/>
          </a:xfrm>
          <a:prstGeom prst="rect">
            <a:avLst/>
          </a:prstGeom>
          <a:solidFill>
            <a:srgbClr val="0000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tIns="25200" rIns="77760" bIns="2520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59" name="Picture 51"/>
          <p:cNvPicPr/>
          <p:nvPr/>
        </p:nvPicPr>
        <p:blipFill>
          <a:blip r:embed="rId2"/>
          <a:stretch/>
        </p:blipFill>
        <p:spPr>
          <a:xfrm>
            <a:off x="75960" y="10080"/>
            <a:ext cx="1187280" cy="47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0" name="Picture 21"/>
          <p:cNvPicPr/>
          <p:nvPr/>
        </p:nvPicPr>
        <p:blipFill>
          <a:blip r:embed="rId3"/>
          <a:stretch/>
        </p:blipFill>
        <p:spPr>
          <a:xfrm>
            <a:off x="3574080" y="42840"/>
            <a:ext cx="1992240" cy="80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1" name="Rectangle 23"/>
          <p:cNvSpPr/>
          <p:nvPr/>
        </p:nvSpPr>
        <p:spPr>
          <a:xfrm>
            <a:off x="0" y="4885200"/>
            <a:ext cx="9140400" cy="25488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77760" tIns="38880" rIns="77760" bIns="38880" anchor="ctr">
            <a:no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Text Box 25"/>
          <p:cNvSpPr/>
          <p:nvPr/>
        </p:nvSpPr>
        <p:spPr>
          <a:xfrm>
            <a:off x="0" y="4899600"/>
            <a:ext cx="91404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spAutoFit/>
          </a:bodyPr>
          <a:p>
            <a:pPr algn="ctr">
              <a:lnSpc>
                <a:spcPct val="100000"/>
              </a:lnSpc>
              <a:spcBef>
                <a:spcPts val="451"/>
              </a:spcBef>
            </a:pPr>
            <a:r>
              <a:rPr lang="en-US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Bharati Vidyapeeth’s Institute of Computer Applications and Management (GGS IP University) New Delhi, India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63" name="Group 36"/>
          <p:cNvGrpSpPr/>
          <p:nvPr/>
        </p:nvGrpSpPr>
        <p:grpSpPr>
          <a:xfrm>
            <a:off x="0" y="956160"/>
            <a:ext cx="9140400" cy="149760"/>
            <a:chOff x="0" y="956160"/>
            <a:chExt cx="9140400" cy="149760"/>
          </a:xfrm>
        </p:grpSpPr>
        <p:sp>
          <p:nvSpPr>
            <p:cNvPr id="364" name="Rectangle 31"/>
            <p:cNvSpPr/>
            <p:nvPr/>
          </p:nvSpPr>
          <p:spPr>
            <a:xfrm>
              <a:off x="0" y="956160"/>
              <a:ext cx="9140400" cy="104760"/>
            </a:xfrm>
            <a:prstGeom prst="rect">
              <a:avLst/>
            </a:prstGeom>
            <a:solidFill>
              <a:srgbClr val="000099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65" name="Rectangle 35"/>
            <p:cNvSpPr/>
            <p:nvPr/>
          </p:nvSpPr>
          <p:spPr>
            <a:xfrm>
              <a:off x="0" y="1077480"/>
              <a:ext cx="9140400" cy="284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-12960" rIns="90000" bIns="-12960" anchor="ctr">
              <a:noAutofit/>
            </a:bodyPr>
            <a:p>
              <a:endPara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1500480" y="127440"/>
            <a:ext cx="76399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6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6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380880" y="943560"/>
            <a:ext cx="8319960" cy="379404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 anchorCtr="1">
            <a:noAutofit/>
          </a:bodyPr>
          <a:p>
            <a:pPr indent="0" algn="ctr">
              <a:lnSpc>
                <a:spcPct val="12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CC"/>
                </a:solidFill>
                <a:effectLst/>
                <a:uFillTx/>
                <a:latin typeface="Calibri"/>
              </a:rPr>
              <a:t>MINOR PROJECT - II</a:t>
            </a:r>
            <a:br>
              <a:rPr sz="3200"/>
            </a:br>
            <a:r>
              <a:rPr lang="en-US" sz="14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alibri"/>
              </a:rPr>
              <a:t>ON</a:t>
            </a:r>
            <a:br>
              <a:rPr sz="3200"/>
            </a:br>
            <a:r>
              <a:rPr lang="en-US" sz="2800" b="1" u="none" strike="noStrike">
                <a:solidFill>
                  <a:srgbClr val="0000CC"/>
                </a:solidFill>
                <a:effectLst/>
                <a:uFillTx/>
                <a:latin typeface="Calibri"/>
              </a:rPr>
              <a:t>Co Work</a:t>
            </a:r>
            <a:r>
              <a:rPr lang="en-US" sz="2600" b="1" u="none" strike="noStrike">
                <a:solidFill>
                  <a:srgbClr val="0000CC"/>
                </a:solidFill>
                <a:effectLst/>
                <a:uFillTx/>
                <a:latin typeface="Calibri"/>
              </a:rPr>
              <a:t>: CoWorking Spaces </a:t>
            </a:r>
            <a:br>
              <a:rPr sz="2600"/>
            </a:br>
            <a:r>
              <a:rPr lang="en-US" sz="2600" b="1" u="none" strike="noStrike">
                <a:solidFill>
                  <a:srgbClr val="0000CC"/>
                </a:solidFill>
                <a:effectLst/>
                <a:uFillTx/>
                <a:latin typeface="Calibri"/>
              </a:rPr>
              <a:t>Management Application</a:t>
            </a:r>
            <a:br>
              <a:rPr sz="4400"/>
            </a:br>
            <a:r>
              <a:rPr lang="en-US" sz="14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rPr>
              <a:t>(MCA – II SEMESTER; BATCH 2025-27)</a:t>
            </a:r>
            <a:br>
              <a:rPr sz="4400"/>
            </a:br>
            <a:br>
              <a:rPr sz="2000"/>
            </a:b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Rectangle 1"/>
          <p:cNvSpPr/>
          <p:nvPr/>
        </p:nvSpPr>
        <p:spPr>
          <a:xfrm>
            <a:off x="4511520" y="4429440"/>
            <a:ext cx="306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IN" sz="1700" b="1" u="none" strike="noStrike">
              <a:solidFill>
                <a:schemeClr val="accent6">
                  <a:lumMod val="75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Rectangle 1"/>
          <p:cNvSpPr/>
          <p:nvPr/>
        </p:nvSpPr>
        <p:spPr>
          <a:xfrm>
            <a:off x="5760000" y="3778920"/>
            <a:ext cx="3380400" cy="10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no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Presentation by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Vaibhav Pathak (06911604425)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Devansh Patidar (09911604425)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Mayan Wadhawan  (10811604425)</a:t>
            </a:r>
            <a:br>
              <a:rPr sz="1600"/>
            </a:b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7" name="Picture 2" descr="Guru Gobind Singh Indraprastha University - Wikipedia"/>
          <p:cNvPicPr/>
          <p:nvPr/>
        </p:nvPicPr>
        <p:blipFill>
          <a:blip r:embed="rId1"/>
          <a:stretch/>
        </p:blipFill>
        <p:spPr>
          <a:xfrm>
            <a:off x="4061520" y="3120480"/>
            <a:ext cx="1206000" cy="106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8" name="Rectangle 2"/>
          <p:cNvSpPr/>
          <p:nvPr/>
        </p:nvSpPr>
        <p:spPr>
          <a:xfrm>
            <a:off x="180000" y="3856320"/>
            <a:ext cx="3198600" cy="10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tIns="38880" rIns="77760" bIns="38880" anchor="t">
            <a:no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Project Mentors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Dr. Sania Kukkar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Dr. Sunil Pratap Singh</a:t>
            </a:r>
            <a:br>
              <a:rPr sz="1600"/>
            </a:b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3924000" y="4320000"/>
            <a:ext cx="1726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800" b="1" u="none" strike="noStrike">
                <a:solidFill>
                  <a:srgbClr val="FF972F"/>
                </a:solidFill>
                <a:effectLst/>
                <a:uFillTx/>
                <a:latin typeface="Times New Roman"/>
              </a:rPr>
              <a:t>15th May 2026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Contents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61" name="PlaceHolder 2"/>
          <p:cNvSpPr>
            <a:spLocks noGrp="1"/>
          </p:cNvSpPr>
          <p:nvPr>
            <p:ph/>
          </p:nvPr>
        </p:nvSpPr>
        <p:spPr>
          <a:xfrm>
            <a:off x="243360" y="647640"/>
            <a:ext cx="8705160" cy="423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p>
            <a:pPr marL="290880" indent="-290880" algn="just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Problem Description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Aim and Objectives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Methodology and Technology Used for Project Development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Project Classes 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Design Documents (Use Case, Data Flow Diagram, Entity-Relation Diagram, etc.)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Operating Structure of project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Screenshots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Conclusion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Future Scope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Bibliography</a:t>
            </a:r>
            <a:endParaRPr lang="en-US" sz="1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Problem Description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63" name="PlaceHolder 2"/>
          <p:cNvSpPr>
            <a:spLocks noGrp="1"/>
          </p:cNvSpPr>
          <p:nvPr>
            <p:ph/>
          </p:nvPr>
        </p:nvSpPr>
        <p:spPr>
          <a:xfrm>
            <a:off x="412560" y="930240"/>
            <a:ext cx="8356320" cy="3841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p>
            <a:pPr marL="290880" indent="-29088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current market lacks a unified platform that aggregates coworking spaces while fostering open competition for transparent price discovery, leaving a significant gap for both consumers and providers. Our project addresses this by offering a comprehensive, user-friendly solution that streamlines the booking process for professionals while providing space owners with integrated tools to efficiently manage their day-to-day operations.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Aim and Objectives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/>
          </p:nvPr>
        </p:nvSpPr>
        <p:spPr>
          <a:xfrm>
            <a:off x="243360" y="647640"/>
            <a:ext cx="8705160" cy="423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p>
            <a:pPr marL="290880" indent="-290880" algn="just">
              <a:lnSpc>
                <a:spcPct val="125000"/>
              </a:lnSpc>
              <a:spcBef>
                <a:spcPts val="1199"/>
              </a:spcBef>
              <a:buClr>
                <a:srgbClr val="0000CC"/>
              </a:buClr>
              <a:buFont typeface="Symbol" charset="2"/>
              <a:buChar char=""/>
            </a:pPr>
            <a:r>
              <a:rPr lang="en-US" sz="2200" b="1" u="none" strike="noStrike">
                <a:solidFill>
                  <a:srgbClr val="0000CC"/>
                </a:solidFill>
                <a:effectLst/>
                <a:uFillTx/>
                <a:latin typeface="Calibri"/>
              </a:rPr>
              <a:t>Aim: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just">
              <a:lnSpc>
                <a:spcPct val="125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develop a robust web application that aggregate CoWorking Spaces Market using ReactJS, Java’s SpringBoot, MongoDB.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25000"/>
              </a:lnSpc>
              <a:spcBef>
                <a:spcPts val="1199"/>
              </a:spcBef>
              <a:buClr>
                <a:srgbClr val="0000CC"/>
              </a:buClr>
              <a:buFont typeface="Symbol" charset="2"/>
              <a:buChar char=""/>
            </a:pPr>
            <a:r>
              <a:rPr lang="en-US" sz="2200" b="1" u="none" strike="noStrike">
                <a:solidFill>
                  <a:srgbClr val="0000CC"/>
                </a:solidFill>
                <a:effectLst/>
                <a:uFillTx/>
                <a:latin typeface="Calibri"/>
              </a:rPr>
              <a:t>Objectives: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just">
              <a:lnSpc>
                <a:spcPct val="125000"/>
              </a:lnSpc>
              <a:spcBef>
                <a:spcPts val="11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allow users to search, select and discover Co Working Spaces around them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just">
              <a:lnSpc>
                <a:spcPct val="125000"/>
              </a:lnSpc>
              <a:spcBef>
                <a:spcPts val="11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see the review/ratings and to review/rate Spaces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just">
              <a:lnSpc>
                <a:spcPct val="125000"/>
              </a:lnSpc>
              <a:spcBef>
                <a:spcPts val="11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Enable users to add smaller services in the form of Add-ons before or during their allotted time.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>
              <a:lnSpc>
                <a:spcPct val="125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>
              <a:lnSpc>
                <a:spcPct val="125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Methodology and Technology Used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67" name="PlaceHolder 2"/>
          <p:cNvSpPr>
            <a:spLocks noGrp="1"/>
          </p:cNvSpPr>
          <p:nvPr>
            <p:ph/>
          </p:nvPr>
        </p:nvSpPr>
        <p:spPr>
          <a:xfrm>
            <a:off x="243360" y="647640"/>
            <a:ext cx="8705160" cy="423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p>
            <a:pPr marL="290880" indent="-290880" algn="just">
              <a:lnSpc>
                <a:spcPct val="125000"/>
              </a:lnSpc>
              <a:spcBef>
                <a:spcPts val="1199"/>
              </a:spcBef>
              <a:buClr>
                <a:srgbClr val="0000CC"/>
              </a:buClr>
              <a:buFont typeface="Symbol" charset="2"/>
              <a:buChar char=""/>
            </a:pPr>
            <a:r>
              <a:rPr lang="en-US" sz="2200" b="1" u="none" strike="noStrike">
                <a:solidFill>
                  <a:srgbClr val="0000CC"/>
                </a:solidFill>
                <a:effectLst/>
                <a:uFillTx/>
                <a:latin typeface="Calibri"/>
              </a:rPr>
              <a:t>Methodology used for Project Development: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32400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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Stakeholder Mapping: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Identify needs for both "Space Seekers" (consumers) and "Space Providers" (businesses).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32400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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Feature Prioritization: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Define core functionalities like real-time search, competitive bidding/pricing, and booking management.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32400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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Modeling: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Determine the document structure for MongoDB to handle varied amenities and dynamic pricing.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Methodology and Technology Used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69" name="PlaceHolder 2"/>
          <p:cNvSpPr>
            <a:spLocks noGrp="1"/>
          </p:cNvSpPr>
          <p:nvPr>
            <p:ph/>
          </p:nvPr>
        </p:nvSpPr>
        <p:spPr>
          <a:xfrm>
            <a:off x="243360" y="647640"/>
            <a:ext cx="8705160" cy="423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p>
            <a:pPr marL="290880" indent="-290880" algn="just">
              <a:lnSpc>
                <a:spcPct val="125000"/>
              </a:lnSpc>
              <a:spcBef>
                <a:spcPts val="1199"/>
              </a:spcBef>
              <a:buClr>
                <a:srgbClr val="0000CC"/>
              </a:buClr>
              <a:buFont typeface="Symbol" charset="2"/>
              <a:buChar char=""/>
            </a:pPr>
            <a:r>
              <a:rPr lang="en-US" sz="2200" b="1" u="none" strike="noStrike">
                <a:solidFill>
                  <a:srgbClr val="0000CC"/>
                </a:solidFill>
                <a:effectLst/>
                <a:uFillTx/>
                <a:latin typeface="Calibri"/>
              </a:rPr>
              <a:t>Methodology used for Project Development: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32400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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Microservices Architecture: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Decouple the user-facing marketplace from the provider-focused management ERP.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32400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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API Strategy: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Design RESTful endpoints in Spring Boot for seamless communication between the React frontend and MongoDB.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32400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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Security Framework: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Implement JWT-based authentication and Role-Based Access Control (RBAC) to separate consumer and provider data.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Methodology and Technology Used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71" name="PlaceHolder 2"/>
          <p:cNvSpPr>
            <a:spLocks noGrp="1"/>
          </p:cNvSpPr>
          <p:nvPr>
            <p:ph/>
          </p:nvPr>
        </p:nvSpPr>
        <p:spPr>
          <a:xfrm>
            <a:off x="243360" y="647640"/>
            <a:ext cx="8705160" cy="423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p>
            <a:pPr marL="290880" indent="-290880" algn="just">
              <a:lnSpc>
                <a:spcPct val="125000"/>
              </a:lnSpc>
              <a:spcBef>
                <a:spcPts val="1800"/>
              </a:spcBef>
              <a:buClr>
                <a:srgbClr val="0000CC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0000CC"/>
                </a:solidFill>
                <a:effectLst/>
                <a:uFillTx/>
                <a:latin typeface="Calibri"/>
              </a:rPr>
              <a:t>Technology used for Project Development: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just">
              <a:lnSpc>
                <a:spcPct val="125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Java (JDK 21) – Core Backend programming language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just">
              <a:lnSpc>
                <a:spcPct val="125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SpringBoot (4.0.6) – Backend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just">
              <a:lnSpc>
                <a:spcPct val="125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MongoDB Atlas – Cloud based DBMS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just">
              <a:lnSpc>
                <a:spcPct val="125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ReactJS – Frontend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just">
              <a:lnSpc>
                <a:spcPct val="125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IDEs used: IntelliJ / VSCodiums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Project Modules 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73" name="PlaceHolder 2"/>
          <p:cNvSpPr>
            <a:spLocks noGrp="1"/>
          </p:cNvSpPr>
          <p:nvPr>
            <p:ph/>
          </p:nvPr>
        </p:nvSpPr>
        <p:spPr>
          <a:xfrm>
            <a:off x="-36000" y="503640"/>
            <a:ext cx="9141840" cy="423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p>
            <a:pPr marL="290880" indent="0" algn="just">
              <a:lnSpc>
                <a:spcPct val="12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1" u="sng" strike="noStrike">
                <a:solidFill>
                  <a:srgbClr val="0000CC"/>
                </a:solidFill>
                <a:effectLst/>
                <a:uFillTx/>
                <a:latin typeface="Calibri"/>
              </a:rPr>
              <a:t>Project Modules</a:t>
            </a:r>
            <a:r>
              <a:rPr lang="en-US" sz="2200" b="1" u="none" strike="noStrike">
                <a:solidFill>
                  <a:srgbClr val="0000CC"/>
                </a:solidFill>
                <a:effectLst/>
                <a:uFillTx/>
                <a:latin typeface="Calibri"/>
              </a:rPr>
              <a:t>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User Authentication &amp; Profile Module:</a:t>
            </a: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Gateway to the application, managing identities and security.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Marketplace &amp; Discovery Module:</a:t>
            </a: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"Search Engine" of the platform. (GeoSpacialSearch, Filtering Engine)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Booking &amp; Transaction Module: </a:t>
            </a: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Handles Real-Time Availability, Pricing Engine and Payment Transactions.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just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Provider Operations (ERP) Module:</a:t>
            </a: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The internal tool for space owners to manage their business. (Inventory Management, Operational Dashboard, Maintenance Tracking)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/>
          </p:nvPr>
        </p:nvSpPr>
        <p:spPr>
          <a:xfrm>
            <a:off x="431640" y="2197080"/>
            <a:ext cx="8175240" cy="732960"/>
          </a:xfrm>
          <a:prstGeom prst="rect">
            <a:avLst/>
          </a:prstGeom>
          <a:solidFill>
            <a:srgbClr val="FFFFCC"/>
          </a:solidFill>
          <a:ln w="0">
            <a:solidFill>
              <a:schemeClr val="dk1">
                <a:lumMod val="50000"/>
                <a:lumOff val="50000"/>
              </a:schemeClr>
            </a:solidFill>
          </a:ln>
        </p:spPr>
        <p:txBody>
          <a:bodyPr numCol="1" spcCol="0" lIns="77760" tIns="38880" rIns="77760" bIns="38880" anchor="t">
            <a:noAutofit/>
          </a:bodyPr>
          <a:p>
            <a:pPr indent="0"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System Design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Use Case Diagram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576" name=""/>
          <p:cNvPicPr/>
          <p:nvPr/>
        </p:nvPicPr>
        <p:blipFill>
          <a:blip r:embed="rId1"/>
          <a:stretch/>
        </p:blipFill>
        <p:spPr>
          <a:xfrm>
            <a:off x="2265120" y="762120"/>
            <a:ext cx="4609800" cy="406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Entity-Relationship (ER) Diagram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578" name=""/>
          <p:cNvPicPr/>
          <p:nvPr/>
        </p:nvPicPr>
        <p:blipFill>
          <a:blip r:embed="rId1"/>
          <a:stretch/>
        </p:blipFill>
        <p:spPr>
          <a:xfrm>
            <a:off x="2162520" y="864000"/>
            <a:ext cx="5016960" cy="396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Data Flow Diagram (Level - 0)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580" name=""/>
          <p:cNvPicPr/>
          <p:nvPr/>
        </p:nvPicPr>
        <p:blipFill>
          <a:blip r:embed="rId1"/>
          <a:stretch/>
        </p:blipFill>
        <p:spPr>
          <a:xfrm>
            <a:off x="35280" y="1980000"/>
            <a:ext cx="9142560" cy="143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Data Flow Diagram (Level - 1)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582" name=""/>
          <p:cNvPicPr/>
          <p:nvPr/>
        </p:nvPicPr>
        <p:blipFill>
          <a:blip r:embed="rId1"/>
          <a:stretch/>
        </p:blipFill>
        <p:spPr>
          <a:xfrm>
            <a:off x="35280" y="1440000"/>
            <a:ext cx="9142560" cy="269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Operating Structure of Project 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2"/>
          <p:cNvSpPr>
            <a:spLocks noGrp="1"/>
          </p:cNvSpPr>
          <p:nvPr>
            <p:ph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p>
            <a:pPr marL="631800" lvl="1" indent="-24192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API Interaction: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React sends asynchronous HTTP requests via Axios/Fetch to Spring Boot REST endpoints.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Processing: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Spring Boot handles business logic and interacts with MongoDB, returning data in JSON format.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lvl="1" indent="-24192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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Dynamic Rendering: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React receives JSON responses to update the UI and manage state without refreshing.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31800" indent="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/>
          </p:nvPr>
        </p:nvSpPr>
        <p:spPr>
          <a:xfrm>
            <a:off x="444600" y="2158920"/>
            <a:ext cx="8302320" cy="656640"/>
          </a:xfrm>
          <a:prstGeom prst="rect">
            <a:avLst/>
          </a:prstGeom>
          <a:solidFill>
            <a:srgbClr val="FFFFCC"/>
          </a:solidFill>
          <a:ln w="0">
            <a:solidFill>
              <a:schemeClr val="dk1">
                <a:lumMod val="50000"/>
                <a:lumOff val="50000"/>
              </a:schemeClr>
            </a:solidFill>
          </a:ln>
        </p:spPr>
        <p:txBody>
          <a:bodyPr numCol="1" spcCol="0" lIns="77760" tIns="38880" rIns="77760" bIns="38880" anchor="t">
            <a:noAutofit/>
          </a:bodyPr>
          <a:p>
            <a:pPr indent="0" algn="ctr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Screenshots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Screenshot - 1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Box 3"/>
          <p:cNvSpPr/>
          <p:nvPr/>
        </p:nvSpPr>
        <p:spPr>
          <a:xfrm>
            <a:off x="5092200" y="1561320"/>
            <a:ext cx="30445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2000" b="1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88" name=""/>
          <p:cNvPicPr/>
          <p:nvPr/>
        </p:nvPicPr>
        <p:blipFill>
          <a:blip r:embed="rId1"/>
          <a:stretch/>
        </p:blipFill>
        <p:spPr>
          <a:xfrm>
            <a:off x="1015920" y="720000"/>
            <a:ext cx="7441920" cy="4069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Screenshot - 2 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590" name=""/>
          <p:cNvPicPr/>
          <p:nvPr/>
        </p:nvPicPr>
        <p:blipFill>
          <a:blip r:embed="rId1"/>
          <a:stretch/>
        </p:blipFill>
        <p:spPr>
          <a:xfrm>
            <a:off x="648000" y="707760"/>
            <a:ext cx="7954560" cy="4168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Screenshot - 3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592" name=""/>
          <p:cNvPicPr/>
          <p:nvPr/>
        </p:nvPicPr>
        <p:blipFill>
          <a:blip r:embed="rId1"/>
          <a:stretch/>
        </p:blipFill>
        <p:spPr>
          <a:xfrm>
            <a:off x="670320" y="720000"/>
            <a:ext cx="8075520" cy="403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Screenshot - 4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594" name=""/>
          <p:cNvPicPr/>
          <p:nvPr/>
        </p:nvPicPr>
        <p:blipFill>
          <a:blip r:embed="rId1"/>
          <a:stretch/>
        </p:blipFill>
        <p:spPr>
          <a:xfrm>
            <a:off x="655560" y="720000"/>
            <a:ext cx="8054280" cy="404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Screenshot - 5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596" name=""/>
          <p:cNvPicPr/>
          <p:nvPr/>
        </p:nvPicPr>
        <p:blipFill>
          <a:blip r:embed="rId1"/>
          <a:stretch/>
        </p:blipFill>
        <p:spPr>
          <a:xfrm>
            <a:off x="540000" y="704880"/>
            <a:ext cx="8169840" cy="4088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1424520" y="720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Screenshot - 6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598" name=""/>
          <p:cNvPicPr/>
          <p:nvPr/>
        </p:nvPicPr>
        <p:blipFill>
          <a:blip r:embed="rId1"/>
          <a:stretch/>
        </p:blipFill>
        <p:spPr>
          <a:xfrm>
            <a:off x="422640" y="684000"/>
            <a:ext cx="8287200" cy="4142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title"/>
          </p:nvPr>
        </p:nvSpPr>
        <p:spPr>
          <a:xfrm>
            <a:off x="1500480" y="17280"/>
            <a:ext cx="7639920" cy="495360"/>
          </a:xfrm>
          <a:prstGeom prst="rect">
            <a:avLst/>
          </a:prstGeom>
          <a:noFill/>
          <a:ln w="0">
            <a:noFill/>
          </a:ln>
        </p:spPr>
        <p:txBody>
          <a:bodyPr lIns="77760" tIns="38880" rIns="77760" bIns="3888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Future Scope</a:t>
            </a:r>
            <a:endParaRPr lang="en-US" sz="34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00" name="PlaceHolder 2"/>
          <p:cNvSpPr>
            <a:spLocks noGrp="1"/>
          </p:cNvSpPr>
          <p:nvPr>
            <p:ph/>
          </p:nvPr>
        </p:nvSpPr>
        <p:spPr>
          <a:xfrm>
            <a:off x="243360" y="760680"/>
            <a:ext cx="8705160" cy="391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tIns="38880" rIns="77760" bIns="38880" anchor="t">
            <a:noAutofit/>
          </a:bodyPr>
          <a:p>
            <a:pPr marL="290880" indent="-29088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 Pricing Optimization: Predictive analytics for real-time rate discovery.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Mobile Expansion: Native React Native apps for on-the-go booking.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IoT Smart Access: Automated door locks and energy management.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-29088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 Workspace Tours: Immersive 3D virtual space previews.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0880" indent="0" algn="l">
              <a:lnSpc>
                <a:spcPct val="12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>
              <a:lnSpc>
                <a:spcPct val="125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resentation_MC_HR_1410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_MC_HR_141004">
      <a:majorFont>
        <a:latin typeface="Times New Roman" pitchFamily="0" charset="1"/>
        <a:ea typeface=""/>
        <a:cs typeface=""/>
      </a:majorFont>
      <a:minorFont>
        <a:latin typeface="Arial" pitchFamily="0" charset="1"/>
        <a:ea typeface="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esentation_MC_HR_1410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_MC_HR_141004">
      <a:majorFont>
        <a:latin typeface="Times New Roman" pitchFamily="0" charset="1"/>
        <a:ea typeface=""/>
        <a:cs typeface=""/>
      </a:majorFont>
      <a:minorFont>
        <a:latin typeface="Arial" pitchFamily="0" charset="1"/>
        <a:ea typeface="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Presentation_MC_HR_1410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_MC_HR_141004">
      <a:majorFont>
        <a:latin typeface="Times New Roman" pitchFamily="0" charset="1"/>
        <a:ea typeface=""/>
        <a:cs typeface=""/>
      </a:majorFont>
      <a:minorFont>
        <a:latin typeface="Arial" pitchFamily="0" charset="1"/>
        <a:ea typeface="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Presentation_MC_HR_1410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_MC_HR_141004">
      <a:majorFont>
        <a:latin typeface="Times New Roman" pitchFamily="0" charset="1"/>
        <a:ea typeface=""/>
        <a:cs typeface=""/>
      </a:majorFont>
      <a:minorFont>
        <a:latin typeface="Arial" pitchFamily="0" charset="1"/>
        <a:ea typeface="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910</TotalTime>
  <Application>LibreOffice/26.2.2.2$Linux_X86_64 LibreOffice_project/1f77d10d6938fd34972958f64b2bcfa54f8b1ba5</Application>
  <AppVersion>15.0000</AppVersion>
  <Words>3814</Words>
  <Paragraphs>128</Paragraphs>
  <Company>Capital One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2000-01-06T15:07:00Z</dcterms:created>
  <dc:creator>Dr. Sunil Pratap Singh</dc:creator>
  <dc:description/>
  <dc:language>en-IN</dc:language>
  <cp:lastModifiedBy>Vaibhav Pathak</cp:lastModifiedBy>
  <cp:lastPrinted>2026-05-02T05:48:51Z</cp:lastPrinted>
  <dcterms:modified xsi:type="dcterms:W3CDTF">2026-05-15T08:57:26Z</dcterms:modified>
  <cp:revision>2306</cp:revision>
  <dc:subject/>
  <dc:title>Introduction to Extreme Programming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853E8D73BFC14466A8C259C5C37FFA9D_13</vt:lpwstr>
  </property>
  <property fmtid="{D5CDD505-2E9C-101B-9397-08002B2CF9AE}" pid="3" name="KSOProductBuildVer">
    <vt:lpwstr>1033-12.2.0.23155</vt:lpwstr>
  </property>
  <property fmtid="{D5CDD505-2E9C-101B-9397-08002B2CF9AE}" pid="4" name="Notes">
    <vt:i4>1</vt:i4>
  </property>
  <property fmtid="{D5CDD505-2E9C-101B-9397-08002B2CF9AE}" pid="5" name="PresentationFormat">
    <vt:lpwstr>On-screen Show (16:9)</vt:lpwstr>
  </property>
  <property fmtid="{D5CDD505-2E9C-101B-9397-08002B2CF9AE}" pid="6" name="Slides">
    <vt:i4>23</vt:i4>
  </property>
</Properties>
</file>